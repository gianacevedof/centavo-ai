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7"/>
    <p:restoredTop sz="69043"/>
  </p:normalViewPr>
  <p:slideViewPr>
    <p:cSldViewPr snapToGrid="0">
      <p:cViewPr varScale="1">
        <p:scale>
          <a:sx n="89" d="100"/>
          <a:sy n="89" d="100"/>
        </p:scale>
        <p:origin x="168" y="12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1 - Project Introduction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Marcos</a:t>
            </a:r>
            <a:br>
              <a:rPr lang="en-US" dirty="0"/>
            </a:br>
            <a:r>
              <a:rPr lang="en-US" dirty="0"/>
              <a:t>Introduces Virtual Presentation #1, the Centavo AI project, and the team members.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2 - The Business Problem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Marcos</a:t>
            </a:r>
            <a:br>
              <a:rPr lang="en-US" dirty="0"/>
            </a:br>
            <a:r>
              <a:rPr lang="en-US" dirty="0"/>
              <a:t>Explains the financial-management problems experienced by freelancers, small-business owners, and individuals.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3 - How Centavo AI Works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Marcos</a:t>
            </a:r>
            <a:br>
              <a:rPr lang="en-US" dirty="0"/>
            </a:br>
            <a:r>
              <a:rPr lang="en-US" dirty="0"/>
              <a:t>Explains the process from natural-language entry to Gemini interpretation, user confirmation, and accurate database calculations.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4 - Technology Stack Overview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Marcos</a:t>
            </a:r>
            <a:br>
              <a:rPr lang="en-US" dirty="0"/>
            </a:br>
            <a:r>
              <a:rPr lang="en-US" dirty="0"/>
              <a:t>Briefly introduces React, Node.js, Express, MySQL, Gemini API, VS Code, and GitHub Project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5 - Team Roles and Next Milestone</a:t>
            </a:r>
            <a:br>
              <a:rPr lang="en-US" dirty="0"/>
            </a:br>
            <a:r>
              <a:rPr lang="en-US" b="1" dirty="0"/>
              <a:t>Speakers:</a:t>
            </a:r>
            <a:r>
              <a:rPr lang="en-US" dirty="0"/>
              <a:t> All team members</a:t>
            </a:r>
            <a:br>
              <a:rPr lang="en-US" dirty="0"/>
            </a:br>
            <a:r>
              <a:rPr lang="en-US" dirty="0"/>
              <a:t>Each member explains their role, tools, and assigned tasks for the next milestone.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effectLst/>
              </a:rPr>
              <a:t>Marcos  / Introduction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effectLst/>
              </a:rPr>
              <a:t>Giancarlo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effectLst/>
              </a:rPr>
              <a:t>Jensen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effectLst/>
              </a:rPr>
              <a:t>Steeve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effectLst/>
              </a:rPr>
              <a:t>Marcos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effectLst/>
            </a:endParaRPr>
          </a:p>
          <a:p>
            <a:endParaRPr lang="en-US" dirty="0"/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6 - Gantt Schedule and Progress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Jensen</a:t>
            </a:r>
            <a:br>
              <a:rPr lang="en-US" dirty="0"/>
            </a:br>
            <a:r>
              <a:rPr lang="en-US" dirty="0"/>
              <a:t>Explains the Gantt chart, completed work, current progress, and upcoming project tasks.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7 - GitHub Repository and Documentation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Marcos</a:t>
            </a:r>
            <a:br>
              <a:rPr lang="en-US" dirty="0"/>
            </a:br>
            <a:r>
              <a:rPr lang="en-US" dirty="0"/>
              <a:t>Shows where the proposal, presentation, team assignments, Gantt chart, and other documentation are stored.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8 - Summary and Closing</a:t>
            </a:r>
            <a:br>
              <a:rPr lang="en-US" dirty="0"/>
            </a:br>
            <a:r>
              <a:rPr lang="en-US" b="1" dirty="0"/>
              <a:t>Speaker:</a:t>
            </a:r>
            <a:r>
              <a:rPr lang="en-US" dirty="0"/>
              <a:t> Marcos</a:t>
            </a:r>
            <a:br>
              <a:rPr lang="en-US" dirty="0"/>
            </a:br>
            <a:r>
              <a:rPr lang="en-US" dirty="0"/>
              <a:t>Summarizes the main points of the presentation and thanks the audience.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D115AC-3577-4251-ADBA-B0DF0A3A0A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E5AA2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5A20E7-77F0-4435-8488-504A0F9A714F}"/>
              </a:ext>
            </a:extLst>
          </p:cNvPr>
          <p:cNvSpPr>
            <a:spLocks noGrp="1"/>
          </p:cNvSpPr>
          <p:nvPr/>
        </p:nvSpPr>
        <p:spPr>
          <a:xfrm>
            <a:off x="742950" y="1050000"/>
            <a:ext cx="10100000" cy="8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dirty="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CENTAVO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CC9A76-8812-48DA-8305-DBF683D03289}"/>
              </a:ext>
            </a:extLst>
          </p:cNvPr>
          <p:cNvSpPr>
            <a:spLocks noGrp="1"/>
          </p:cNvSpPr>
          <p:nvPr/>
        </p:nvSpPr>
        <p:spPr>
          <a:xfrm>
            <a:off x="742950" y="1980000"/>
            <a:ext cx="10100000" cy="7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2F55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2F5597"/>
                </a:solidFill>
                <a:latin typeface="Helvetica Neue"/>
                <a:ea typeface="Helvetica Neue"/>
                <a:cs typeface="Helvetica Neue"/>
              </a:rPr>
              <a:t>Intelligent Financial and Budget Tracking Website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152BB6F-AA69-4D7C-B106-774A1D2A10AF}"/>
              </a:ext>
            </a:extLst>
          </p:cNvPr>
          <p:cNvSpPr>
            <a:spLocks noGrp="1"/>
          </p:cNvSpPr>
          <p:nvPr/>
        </p:nvSpPr>
        <p:spPr>
          <a:xfrm>
            <a:off x="742950" y="2860000"/>
            <a:ext cx="1428750" cy="0"/>
          </a:xfrm>
          <a:prstGeom prst="line">
            <a:avLst/>
          </a:prstGeom>
          <a:noFill/>
          <a:ln w="47625">
            <a:solidFill>
              <a:srgbClr val="E5A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5F9E9-9788-40FD-982C-CDCEBC080075}"/>
              </a:ext>
            </a:extLst>
          </p:cNvPr>
          <p:cNvSpPr>
            <a:spLocks noGrp="1"/>
          </p:cNvSpPr>
          <p:nvPr/>
        </p:nvSpPr>
        <p:spPr>
          <a:xfrm>
            <a:off x="742950" y="3180000"/>
            <a:ext cx="1010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dirty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Virtual Presentation #1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5310E-4A10-40AB-A020-79537209542A}"/>
              </a:ext>
            </a:extLst>
          </p:cNvPr>
          <p:cNvSpPr>
            <a:spLocks noGrp="1"/>
          </p:cNvSpPr>
          <p:nvPr/>
        </p:nvSpPr>
        <p:spPr>
          <a:xfrm>
            <a:off x="742950" y="3730000"/>
            <a:ext cx="10100000" cy="1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Giancarlo Acevedo Francisco</a:t>
            </a:r>
          </a:p>
          <a:p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Jensen Ramnarine</a:t>
            </a:r>
          </a:p>
          <a:p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Marcos Gutierrez</a:t>
            </a:r>
          </a:p>
          <a:p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Steeve Roger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730EA5-7653-46AD-9FD3-DB0B48752F2A}"/>
              </a:ext>
            </a:extLst>
          </p:cNvPr>
          <p:cNvSpPr>
            <a:spLocks noGrp="1"/>
          </p:cNvSpPr>
          <p:nvPr/>
        </p:nvSpPr>
        <p:spPr>
          <a:xfrm>
            <a:off x="742950" y="613410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3286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E43217E-E3A5-4D53-B018-E12D73301490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The business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A97B1-F2F8-407F-A741-DBAE1B5DEF5D}"/>
              </a:ext>
            </a:extLst>
          </p:cNvPr>
          <p:cNvSpPr>
            <a:spLocks noGrp="1"/>
          </p:cNvSpPr>
          <p:nvPr/>
        </p:nvSpPr>
        <p:spPr>
          <a:xfrm>
            <a:off x="10953750" y="495300"/>
            <a:ext cx="619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82BA2B9-DE6C-4724-A83B-1DBD06C19DB8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11001375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4EA30-AD7B-4C80-95FB-ADDB4C860AFF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Who we are consulting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A05F1-ECD8-4BF3-90DE-67A6B29B6DB6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419100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081"/>
          </a:bodyPr>
          <a:lstStyle/>
          <a:p>
            <a:pPr algn="l">
              <a:defRPr sz="21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Freelancers, small business owners, and individuals who need a simpler way to track money.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BEDA20-C67C-4812-8254-A8BEB1A05E8C}"/>
              </a:ext>
            </a:extLst>
          </p:cNvPr>
          <p:cNvSpPr>
            <a:spLocks noGrp="1"/>
          </p:cNvSpPr>
          <p:nvPr/>
        </p:nvSpPr>
        <p:spPr>
          <a:xfrm>
            <a:off x="5429250" y="1504950"/>
            <a:ext cx="457200" cy="457200"/>
          </a:xfrm>
          <a:prstGeom prst="ellipse">
            <a:avLst/>
          </a:prstGeom>
          <a:solidFill>
            <a:srgbClr val="C955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A51C9D-2533-4860-944F-41FFAE860BDE}"/>
              </a:ext>
            </a:extLst>
          </p:cNvPr>
          <p:cNvSpPr>
            <a:spLocks noGrp="1"/>
          </p:cNvSpPr>
          <p:nvPr/>
        </p:nvSpPr>
        <p:spPr>
          <a:xfrm>
            <a:off x="5429250" y="16002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3871B8-9259-4EE3-9552-08AF43B655C8}"/>
              </a:ext>
            </a:extLst>
          </p:cNvPr>
          <p:cNvSpPr>
            <a:spLocks noGrp="1"/>
          </p:cNvSpPr>
          <p:nvPr/>
        </p:nvSpPr>
        <p:spPr>
          <a:xfrm>
            <a:off x="6143625" y="14287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dirty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Manual entry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9B2A2B-0D32-4CD4-A609-4AE7E872CCA1}"/>
              </a:ext>
            </a:extLst>
          </p:cNvPr>
          <p:cNvSpPr>
            <a:spLocks noGrp="1"/>
          </p:cNvSpPr>
          <p:nvPr/>
        </p:nvSpPr>
        <p:spPr>
          <a:xfrm>
            <a:off x="6143625" y="18002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Entering every receipt takes time, so financial records fall behind.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F6E406-CE1E-4272-9DCE-F29B5766703F}"/>
              </a:ext>
            </a:extLst>
          </p:cNvPr>
          <p:cNvSpPr>
            <a:spLocks noGrp="1"/>
          </p:cNvSpPr>
          <p:nvPr/>
        </p:nvSpPr>
        <p:spPr>
          <a:xfrm>
            <a:off x="5429250" y="2762250"/>
            <a:ext cx="457200" cy="457200"/>
          </a:xfrm>
          <a:prstGeom prst="ellipse">
            <a:avLst/>
          </a:prstGeom>
          <a:solidFill>
            <a:srgbClr val="E5AA2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BB156-D246-45AF-A439-6214AAFA1714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C7316-84F1-46A8-AF49-6BBFE54521C9}"/>
              </a:ext>
            </a:extLst>
          </p:cNvPr>
          <p:cNvSpPr>
            <a:spLocks noGrp="1"/>
          </p:cNvSpPr>
          <p:nvPr/>
        </p:nvSpPr>
        <p:spPr>
          <a:xfrm>
            <a:off x="6143625" y="26860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Incorrect categories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D8ADE-D10D-4CE2-87E2-AE84F2252694}"/>
              </a:ext>
            </a:extLst>
          </p:cNvPr>
          <p:cNvSpPr>
            <a:spLocks noGrp="1"/>
          </p:cNvSpPr>
          <p:nvPr/>
        </p:nvSpPr>
        <p:spPr>
          <a:xfrm>
            <a:off x="6143625" y="30575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Automated systems can misunderstand purchases without user confirmation.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666689-87E3-4915-A3BB-8889C3204BFA}"/>
              </a:ext>
            </a:extLst>
          </p:cNvPr>
          <p:cNvSpPr>
            <a:spLocks noGrp="1"/>
          </p:cNvSpPr>
          <p:nvPr/>
        </p:nvSpPr>
        <p:spPr>
          <a:xfrm>
            <a:off x="5429250" y="4019550"/>
            <a:ext cx="457200" cy="457200"/>
          </a:xfrm>
          <a:prstGeom prst="ellipse">
            <a:avLst/>
          </a:prstGeom>
          <a:solidFill>
            <a:srgbClr val="2F9E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9A23BD-EE20-433C-B901-6F7243839B0F}"/>
              </a:ext>
            </a:extLst>
          </p:cNvPr>
          <p:cNvSpPr>
            <a:spLocks noGrp="1"/>
          </p:cNvSpPr>
          <p:nvPr/>
        </p:nvSpPr>
        <p:spPr>
          <a:xfrm>
            <a:off x="5429250" y="4114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774E08-E15E-4F15-8A8C-A0D46815923C}"/>
              </a:ext>
            </a:extLst>
          </p:cNvPr>
          <p:cNvSpPr>
            <a:spLocks noGrp="1"/>
          </p:cNvSpPr>
          <p:nvPr/>
        </p:nvSpPr>
        <p:spPr>
          <a:xfrm>
            <a:off x="6143625" y="39433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Unreliable AI math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9139C6-B9ED-40F9-B64D-C9226ECCDA3A}"/>
              </a:ext>
            </a:extLst>
          </p:cNvPr>
          <p:cNvSpPr>
            <a:spLocks noGrp="1"/>
          </p:cNvSpPr>
          <p:nvPr/>
        </p:nvSpPr>
        <p:spPr>
          <a:xfrm>
            <a:off x="6143625" y="431482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Financial balances need programmed calculations and database queries.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EFF72C6-AEEF-48CE-8C5A-4F711F3E0C66}"/>
              </a:ext>
            </a:extLst>
          </p:cNvPr>
          <p:cNvSpPr>
            <a:spLocks noGrp="1"/>
          </p:cNvSpPr>
          <p:nvPr/>
        </p:nvSpPr>
        <p:spPr>
          <a:xfrm>
            <a:off x="590550" y="5457825"/>
            <a:ext cx="10334625" cy="619125"/>
          </a:xfrm>
          <a:prstGeom prst="roundRect">
            <a:avLst>
              <a:gd name="adj" fmla="val 12308"/>
            </a:avLst>
          </a:prstGeom>
          <a:solidFill>
            <a:srgbClr val="DCE6F1"/>
          </a:solidFill>
          <a:ln w="9525">
            <a:solidFill>
              <a:srgbClr val="DCE6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A10C77-913B-4BFF-B4D4-E99E16F1DBBE}"/>
              </a:ext>
            </a:extLst>
          </p:cNvPr>
          <p:cNvSpPr>
            <a:spLocks noGrp="1"/>
          </p:cNvSpPr>
          <p:nvPr/>
        </p:nvSpPr>
        <p:spPr>
          <a:xfrm>
            <a:off x="819150" y="5629275"/>
            <a:ext cx="9886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Users need faster data entry and financial calculations they can verify.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05A587-F74B-4A0B-B787-E0E527A653EB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  <p:pic>
        <p:nvPicPr>
          <p:cNvPr id="30" name="Picture 29" descr="Person with microphone">
            <a:extLst>
              <a:ext uri="{FF2B5EF4-FFF2-40B4-BE49-F238E27FC236}">
                <a16:creationId xmlns:a16="http://schemas.microsoft.com/office/drawing/2014/main" id="{0EB4A436-8ED3-F088-FD36-77A4122B1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38" y="2874385"/>
            <a:ext cx="1370973" cy="914388"/>
          </a:xfrm>
          <a:prstGeom prst="rect">
            <a:avLst/>
          </a:prstGeom>
        </p:spPr>
      </p:pic>
      <p:pic>
        <p:nvPicPr>
          <p:cNvPr id="32" name="Picture 31" descr="Woman in cafe doorway">
            <a:extLst>
              <a:ext uri="{FF2B5EF4-FFF2-40B4-BE49-F238E27FC236}">
                <a16:creationId xmlns:a16="http://schemas.microsoft.com/office/drawing/2014/main" id="{73426907-015B-5526-1E56-DA5D4D6DA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132" y="2850919"/>
            <a:ext cx="1472179" cy="981069"/>
          </a:xfrm>
          <a:prstGeom prst="rect">
            <a:avLst/>
          </a:prstGeom>
        </p:spPr>
      </p:pic>
      <p:pic>
        <p:nvPicPr>
          <p:cNvPr id="36" name="Picture 35" descr="A person sitting on a train using a mobile phone and looking out the window">
            <a:extLst>
              <a:ext uri="{FF2B5EF4-FFF2-40B4-BE49-F238E27FC236}">
                <a16:creationId xmlns:a16="http://schemas.microsoft.com/office/drawing/2014/main" id="{47E1CCC4-57A3-4C02-F020-3A1BA398C7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73" y="4036435"/>
            <a:ext cx="1471604" cy="98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8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9D210B1-5AFC-4637-BA0D-F240C3D23115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How Centavo AI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C0DF67-A272-4502-9F44-D2C6A04B59C3}"/>
              </a:ext>
            </a:extLst>
          </p:cNvPr>
          <p:cNvSpPr>
            <a:spLocks noGrp="1"/>
          </p:cNvSpPr>
          <p:nvPr/>
        </p:nvSpPr>
        <p:spPr>
          <a:xfrm>
            <a:off x="10953750" y="495300"/>
            <a:ext cx="619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524C48E-40B0-4AED-9395-FDBBB9E9D0B9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11001375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48C4E8-3925-4DD5-892B-4FFB73767BB4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AI interprets language. The application performs the calculations.</a:t>
            </a:r>
          </a:p>
        </p:txBody>
      </p:sp>
      <p:sp>
        <p:nvSpPr>
          <p:cNvPr id="5" name="solution-step-1">
            <a:extLst>
              <a:ext uri="{FF2B5EF4-FFF2-40B4-BE49-F238E27FC236}">
                <a16:creationId xmlns:a16="http://schemas.microsoft.com/office/drawing/2014/main" id="{33D8CCA1-5243-4AE3-AB35-E1F099658158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2190750" cy="233362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31C02C-9CBB-4ACF-AD72-5C74E15BE1C7}"/>
              </a:ext>
            </a:extLst>
          </p:cNvPr>
          <p:cNvSpPr>
            <a:spLocks noGrp="1"/>
          </p:cNvSpPr>
          <p:nvPr/>
        </p:nvSpPr>
        <p:spPr>
          <a:xfrm>
            <a:off x="1333500" y="2447925"/>
            <a:ext cx="704850" cy="704850"/>
          </a:xfrm>
          <a:prstGeom prst="ellipse">
            <a:avLst/>
          </a:prstGeom>
          <a:solidFill>
            <a:srgbClr val="2F559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DB5021-386A-4A91-AE08-D5C89CCE3C98}"/>
              </a:ext>
            </a:extLst>
          </p:cNvPr>
          <p:cNvSpPr>
            <a:spLocks noGrp="1"/>
          </p:cNvSpPr>
          <p:nvPr/>
        </p:nvSpPr>
        <p:spPr>
          <a:xfrm>
            <a:off x="1333500" y="2619375"/>
            <a:ext cx="704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F179D-D1DE-491E-BEB2-504AE6452925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1847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Natural language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882692-A1DB-438C-B570-4BF0C8EB2C76}"/>
              </a:ext>
            </a:extLst>
          </p:cNvPr>
          <p:cNvSpPr>
            <a:spLocks noGrp="1"/>
          </p:cNvSpPr>
          <p:nvPr/>
        </p:nvSpPr>
        <p:spPr>
          <a:xfrm>
            <a:off x="800100" y="3857625"/>
            <a:ext cx="1771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user types a transaction.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0CFD963-FC6D-4172-9696-E81B2CC8EC97}"/>
              </a:ext>
            </a:extLst>
          </p:cNvPr>
          <p:cNvSpPr>
            <a:spLocks noGrp="1"/>
          </p:cNvSpPr>
          <p:nvPr/>
        </p:nvSpPr>
        <p:spPr>
          <a:xfrm>
            <a:off x="2905125" y="3095625"/>
            <a:ext cx="400050" cy="361950"/>
          </a:xfrm>
          <a:prstGeom prst="rightArrow">
            <a:avLst/>
          </a:prstGeom>
          <a:solidFill>
            <a:srgbClr val="E5AA2A"/>
          </a:solidFill>
          <a:ln w="0">
            <a:solidFill>
              <a:srgbClr val="E5A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olution-step-2">
            <a:extLst>
              <a:ext uri="{FF2B5EF4-FFF2-40B4-BE49-F238E27FC236}">
                <a16:creationId xmlns:a16="http://schemas.microsoft.com/office/drawing/2014/main" id="{10BD29DE-B1D8-438D-96F0-A16722D8DA3F}"/>
              </a:ext>
            </a:extLst>
          </p:cNvPr>
          <p:cNvSpPr>
            <a:spLocks noGrp="1"/>
          </p:cNvSpPr>
          <p:nvPr/>
        </p:nvSpPr>
        <p:spPr>
          <a:xfrm>
            <a:off x="3429000" y="2219325"/>
            <a:ext cx="2190750" cy="233362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98D9A3-4793-47DA-B02F-CDA01476C9CF}"/>
              </a:ext>
            </a:extLst>
          </p:cNvPr>
          <p:cNvSpPr>
            <a:spLocks noGrp="1"/>
          </p:cNvSpPr>
          <p:nvPr/>
        </p:nvSpPr>
        <p:spPr>
          <a:xfrm>
            <a:off x="4171950" y="2447925"/>
            <a:ext cx="704850" cy="704850"/>
          </a:xfrm>
          <a:prstGeom prst="ellipse">
            <a:avLst/>
          </a:prstGeom>
          <a:solidFill>
            <a:srgbClr val="2F559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F554E-6A14-40D9-959A-2DE9779F249C}"/>
              </a:ext>
            </a:extLst>
          </p:cNvPr>
          <p:cNvSpPr>
            <a:spLocks noGrp="1"/>
          </p:cNvSpPr>
          <p:nvPr/>
        </p:nvSpPr>
        <p:spPr>
          <a:xfrm>
            <a:off x="4171950" y="2619375"/>
            <a:ext cx="704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FB8CC2-DDE1-4690-B11F-D858E11DEE8B}"/>
              </a:ext>
            </a:extLst>
          </p:cNvPr>
          <p:cNvSpPr>
            <a:spLocks noGrp="1"/>
          </p:cNvSpPr>
          <p:nvPr/>
        </p:nvSpPr>
        <p:spPr>
          <a:xfrm>
            <a:off x="3600450" y="3381375"/>
            <a:ext cx="1847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Gemini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8E72DE-1889-4AAB-8169-A0A9C3E359E9}"/>
              </a:ext>
            </a:extLst>
          </p:cNvPr>
          <p:cNvSpPr>
            <a:spLocks noGrp="1"/>
          </p:cNvSpPr>
          <p:nvPr/>
        </p:nvSpPr>
        <p:spPr>
          <a:xfrm>
            <a:off x="3638550" y="3857625"/>
            <a:ext cx="1771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Gemini returns structured labels.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C3D1EBB0-C55E-4BEF-A35F-1175A30F40DD}"/>
              </a:ext>
            </a:extLst>
          </p:cNvPr>
          <p:cNvSpPr>
            <a:spLocks noGrp="1"/>
          </p:cNvSpPr>
          <p:nvPr/>
        </p:nvSpPr>
        <p:spPr>
          <a:xfrm>
            <a:off x="5743575" y="3095625"/>
            <a:ext cx="400050" cy="361950"/>
          </a:xfrm>
          <a:prstGeom prst="rightArrow">
            <a:avLst/>
          </a:prstGeom>
          <a:solidFill>
            <a:srgbClr val="E5AA2A"/>
          </a:solidFill>
          <a:ln w="0">
            <a:solidFill>
              <a:srgbClr val="E5A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olution-step-3">
            <a:extLst>
              <a:ext uri="{FF2B5EF4-FFF2-40B4-BE49-F238E27FC236}">
                <a16:creationId xmlns:a16="http://schemas.microsoft.com/office/drawing/2014/main" id="{F87968AF-2687-4AB0-8552-AFB91C3944CE}"/>
              </a:ext>
            </a:extLst>
          </p:cNvPr>
          <p:cNvSpPr>
            <a:spLocks noGrp="1"/>
          </p:cNvSpPr>
          <p:nvPr/>
        </p:nvSpPr>
        <p:spPr>
          <a:xfrm>
            <a:off x="6267450" y="2219325"/>
            <a:ext cx="2190750" cy="233362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AC3ADA-A4A4-4CFB-9D0D-55438DFB4B92}"/>
              </a:ext>
            </a:extLst>
          </p:cNvPr>
          <p:cNvSpPr>
            <a:spLocks noGrp="1"/>
          </p:cNvSpPr>
          <p:nvPr/>
        </p:nvSpPr>
        <p:spPr>
          <a:xfrm>
            <a:off x="7010400" y="2447925"/>
            <a:ext cx="704850" cy="704850"/>
          </a:xfrm>
          <a:prstGeom prst="ellipse">
            <a:avLst/>
          </a:prstGeom>
          <a:solidFill>
            <a:srgbClr val="2F559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5C9A8F-858E-4776-AA25-C2B3C75534D9}"/>
              </a:ext>
            </a:extLst>
          </p:cNvPr>
          <p:cNvSpPr>
            <a:spLocks noGrp="1"/>
          </p:cNvSpPr>
          <p:nvPr/>
        </p:nvSpPr>
        <p:spPr>
          <a:xfrm>
            <a:off x="7010400" y="2619375"/>
            <a:ext cx="704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E7952-16AA-46F7-BD16-117CA124B148}"/>
              </a:ext>
            </a:extLst>
          </p:cNvPr>
          <p:cNvSpPr>
            <a:spLocks noGrp="1"/>
          </p:cNvSpPr>
          <p:nvPr/>
        </p:nvSpPr>
        <p:spPr>
          <a:xfrm>
            <a:off x="6438900" y="3381375"/>
            <a:ext cx="1847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User confirmation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1EFE5A-C469-44F6-8E09-99EC8DF3586E}"/>
              </a:ext>
            </a:extLst>
          </p:cNvPr>
          <p:cNvSpPr>
            <a:spLocks noGrp="1"/>
          </p:cNvSpPr>
          <p:nvPr/>
        </p:nvSpPr>
        <p:spPr>
          <a:xfrm>
            <a:off x="6477000" y="3857625"/>
            <a:ext cx="1771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user reviews the information.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9547192D-8063-45D2-897A-67D9B3EB7ABA}"/>
              </a:ext>
            </a:extLst>
          </p:cNvPr>
          <p:cNvSpPr>
            <a:spLocks noGrp="1"/>
          </p:cNvSpPr>
          <p:nvPr/>
        </p:nvSpPr>
        <p:spPr>
          <a:xfrm>
            <a:off x="8582025" y="3095625"/>
            <a:ext cx="400050" cy="361950"/>
          </a:xfrm>
          <a:prstGeom prst="rightArrow">
            <a:avLst/>
          </a:prstGeom>
          <a:solidFill>
            <a:srgbClr val="E5AA2A"/>
          </a:solidFill>
          <a:ln w="0">
            <a:solidFill>
              <a:srgbClr val="E5A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olution-step-4">
            <a:extLst>
              <a:ext uri="{FF2B5EF4-FFF2-40B4-BE49-F238E27FC236}">
                <a16:creationId xmlns:a16="http://schemas.microsoft.com/office/drawing/2014/main" id="{8223B43C-90CD-44E5-91BE-38DE87A165DF}"/>
              </a:ext>
            </a:extLst>
          </p:cNvPr>
          <p:cNvSpPr>
            <a:spLocks noGrp="1"/>
          </p:cNvSpPr>
          <p:nvPr/>
        </p:nvSpPr>
        <p:spPr>
          <a:xfrm>
            <a:off x="9105900" y="2219325"/>
            <a:ext cx="2190750" cy="233362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046219-D40C-44F5-ADB2-A6D37E18B06D}"/>
              </a:ext>
            </a:extLst>
          </p:cNvPr>
          <p:cNvSpPr>
            <a:spLocks noGrp="1"/>
          </p:cNvSpPr>
          <p:nvPr/>
        </p:nvSpPr>
        <p:spPr>
          <a:xfrm>
            <a:off x="9848850" y="2447925"/>
            <a:ext cx="704850" cy="704850"/>
          </a:xfrm>
          <a:prstGeom prst="ellipse">
            <a:avLst/>
          </a:prstGeom>
          <a:solidFill>
            <a:srgbClr val="2F9E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30A8BC-6C7D-4DE0-BA03-3ECF303DFD51}"/>
              </a:ext>
            </a:extLst>
          </p:cNvPr>
          <p:cNvSpPr>
            <a:spLocks noGrp="1"/>
          </p:cNvSpPr>
          <p:nvPr/>
        </p:nvSpPr>
        <p:spPr>
          <a:xfrm>
            <a:off x="9848850" y="2619375"/>
            <a:ext cx="704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F230C6-978E-4BBF-B3B1-BCCAAB0F0932}"/>
              </a:ext>
            </a:extLst>
          </p:cNvPr>
          <p:cNvSpPr>
            <a:spLocks noGrp="1"/>
          </p:cNvSpPr>
          <p:nvPr/>
        </p:nvSpPr>
        <p:spPr>
          <a:xfrm>
            <a:off x="9277350" y="3381375"/>
            <a:ext cx="1847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9892"/>
          </a:bodyPr>
          <a:lstStyle/>
          <a:p>
            <a:pPr algn="ctr">
              <a:def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Backend and MySQL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0B7EFF-5E34-43C4-B5F4-3842D6338C86}"/>
              </a:ext>
            </a:extLst>
          </p:cNvPr>
          <p:cNvSpPr>
            <a:spLocks noGrp="1"/>
          </p:cNvSpPr>
          <p:nvPr/>
        </p:nvSpPr>
        <p:spPr>
          <a:xfrm>
            <a:off x="9315450" y="3857625"/>
            <a:ext cx="1771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Code updates balances and budgets.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C65DD0D-3E0D-4856-8870-645954D33419}"/>
              </a:ext>
            </a:extLst>
          </p:cNvPr>
          <p:cNvSpPr>
            <a:spLocks noGrp="1"/>
          </p:cNvSpPr>
          <p:nvPr/>
        </p:nvSpPr>
        <p:spPr>
          <a:xfrm>
            <a:off x="2343150" y="5095875"/>
            <a:ext cx="7505700" cy="666750"/>
          </a:xfrm>
          <a:prstGeom prst="roundRect">
            <a:avLst>
              <a:gd name="adj" fmla="val 14286"/>
            </a:avLst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236243-0EA9-4852-A688-53EA505DC130}"/>
              </a:ext>
            </a:extLst>
          </p:cNvPr>
          <p:cNvSpPr>
            <a:spLocks noGrp="1"/>
          </p:cNvSpPr>
          <p:nvPr/>
        </p:nvSpPr>
        <p:spPr>
          <a:xfrm>
            <a:off x="2609850" y="5286375"/>
            <a:ext cx="6972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Core rule: Gemini never performs the financial math.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E0914C-2E22-4626-BBE6-60988CB18598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</p:spTree>
    <p:extLst>
      <p:ext uri="{BB962C8B-B14F-4D97-AF65-F5344CB8AC3E}">
        <p14:creationId xmlns:p14="http://schemas.microsoft.com/office/powerpoint/2010/main" val="88245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7" grpId="0" animBg="1"/>
      <p:bldP spid="23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A1D6EE4-00D9-4DFC-A9C6-885D83D7942C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Technology stack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C3848E-A234-4DE8-97FD-BCFA0F0A390C}"/>
              </a:ext>
            </a:extLst>
          </p:cNvPr>
          <p:cNvSpPr>
            <a:spLocks noGrp="1"/>
          </p:cNvSpPr>
          <p:nvPr/>
        </p:nvSpPr>
        <p:spPr>
          <a:xfrm>
            <a:off x="10953750" y="495300"/>
            <a:ext cx="619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98715BC-6671-447B-9C53-6F035EE9F63C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11001375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0CE50-60FE-418B-BE32-46362E0F2CA7}"/>
              </a:ext>
            </a:extLst>
          </p:cNvPr>
          <p:cNvSpPr>
            <a:spLocks noGrp="1"/>
          </p:cNvSpPr>
          <p:nvPr/>
        </p:nvSpPr>
        <p:spPr>
          <a:xfrm>
            <a:off x="714375" y="1581150"/>
            <a:ext cx="114300" cy="1000125"/>
          </a:xfrm>
          <a:prstGeom prst="rect">
            <a:avLst/>
          </a:prstGeom>
          <a:solidFill>
            <a:srgbClr val="2F559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E341E-A8BF-4AE0-80A7-B4CAA8E2C999}"/>
              </a:ext>
            </a:extLst>
          </p:cNvPr>
          <p:cNvSpPr>
            <a:spLocks noGrp="1"/>
          </p:cNvSpPr>
          <p:nvPr/>
        </p:nvSpPr>
        <p:spPr>
          <a:xfrm>
            <a:off x="1066800" y="172402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Frontend website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726D1-6B6B-4CCA-A82E-D1E6A53D8FA6}"/>
              </a:ext>
            </a:extLst>
          </p:cNvPr>
          <p:cNvSpPr>
            <a:spLocks noGrp="1"/>
          </p:cNvSpPr>
          <p:nvPr/>
        </p:nvSpPr>
        <p:spPr>
          <a:xfrm>
            <a:off x="1066800" y="2047875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dirty="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React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D16DF69-9DFA-456D-900B-A2ADA605F3B3}"/>
              </a:ext>
            </a:extLst>
          </p:cNvPr>
          <p:cNvSpPr>
            <a:spLocks noGrp="1"/>
          </p:cNvSpPr>
          <p:nvPr/>
        </p:nvSpPr>
        <p:spPr>
          <a:xfrm>
            <a:off x="1066800" y="2543175"/>
            <a:ext cx="4591050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740EE4-EF10-4CA5-B399-02BB3B268979}"/>
              </a:ext>
            </a:extLst>
          </p:cNvPr>
          <p:cNvSpPr>
            <a:spLocks noGrp="1"/>
          </p:cNvSpPr>
          <p:nvPr/>
        </p:nvSpPr>
        <p:spPr>
          <a:xfrm>
            <a:off x="714375" y="2819400"/>
            <a:ext cx="114300" cy="1000125"/>
          </a:xfrm>
          <a:prstGeom prst="rect">
            <a:avLst/>
          </a:prstGeom>
          <a:solidFill>
            <a:srgbClr val="2F9E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CEA87-57E5-4470-9F0A-952314D5AF16}"/>
              </a:ext>
            </a:extLst>
          </p:cNvPr>
          <p:cNvSpPr>
            <a:spLocks noGrp="1"/>
          </p:cNvSpPr>
          <p:nvPr/>
        </p:nvSpPr>
        <p:spPr>
          <a:xfrm>
            <a:off x="1066800" y="296227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Backend 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593D2-AF67-4CB5-8A88-76CF68B1393A}"/>
              </a:ext>
            </a:extLst>
          </p:cNvPr>
          <p:cNvSpPr>
            <a:spLocks noGrp="1"/>
          </p:cNvSpPr>
          <p:nvPr/>
        </p:nvSpPr>
        <p:spPr>
          <a:xfrm>
            <a:off x="1066800" y="3286125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dirty="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Node.js and Express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1CA4E61-749B-47E5-8EF3-EF0CE5D526B9}"/>
              </a:ext>
            </a:extLst>
          </p:cNvPr>
          <p:cNvSpPr>
            <a:spLocks noGrp="1"/>
          </p:cNvSpPr>
          <p:nvPr/>
        </p:nvSpPr>
        <p:spPr>
          <a:xfrm>
            <a:off x="1066800" y="3781425"/>
            <a:ext cx="4591050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A368F8-14DC-45F1-84F2-050846D47F29}"/>
              </a:ext>
            </a:extLst>
          </p:cNvPr>
          <p:cNvSpPr>
            <a:spLocks noGrp="1"/>
          </p:cNvSpPr>
          <p:nvPr/>
        </p:nvSpPr>
        <p:spPr>
          <a:xfrm>
            <a:off x="714375" y="4057650"/>
            <a:ext cx="114300" cy="1000125"/>
          </a:xfrm>
          <a:prstGeom prst="rect">
            <a:avLst/>
          </a:prstGeom>
          <a:solidFill>
            <a:srgbClr val="E5AA2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A3732-B024-490E-87C5-08F988B1C458}"/>
              </a:ext>
            </a:extLst>
          </p:cNvPr>
          <p:cNvSpPr>
            <a:spLocks noGrp="1"/>
          </p:cNvSpPr>
          <p:nvPr/>
        </p:nvSpPr>
        <p:spPr>
          <a:xfrm>
            <a:off x="1066800" y="420052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Financial database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3278EE-1934-4216-A314-A4C5945C4907}"/>
              </a:ext>
            </a:extLst>
          </p:cNvPr>
          <p:cNvSpPr>
            <a:spLocks noGrp="1"/>
          </p:cNvSpPr>
          <p:nvPr/>
        </p:nvSpPr>
        <p:spPr>
          <a:xfrm>
            <a:off x="1066800" y="4524375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MySQL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A0B71B-34EF-4C46-8742-E6E00AB3BF8E}"/>
              </a:ext>
            </a:extLst>
          </p:cNvPr>
          <p:cNvSpPr>
            <a:spLocks noGrp="1"/>
          </p:cNvSpPr>
          <p:nvPr/>
        </p:nvSpPr>
        <p:spPr>
          <a:xfrm>
            <a:off x="1066800" y="5019675"/>
            <a:ext cx="4591050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632B0A-9091-4F41-B1AC-75FB792685F1}"/>
              </a:ext>
            </a:extLst>
          </p:cNvPr>
          <p:cNvSpPr>
            <a:spLocks noGrp="1"/>
          </p:cNvSpPr>
          <p:nvPr/>
        </p:nvSpPr>
        <p:spPr>
          <a:xfrm>
            <a:off x="6477000" y="1628775"/>
            <a:ext cx="4762500" cy="1762125"/>
          </a:xfrm>
          <a:prstGeom prst="roundRect">
            <a:avLst>
              <a:gd name="adj" fmla="val 6486"/>
            </a:avLst>
          </a:prstGeom>
          <a:solidFill>
            <a:srgbClr val="DCE6F1"/>
          </a:solidFill>
          <a:ln w="9525">
            <a:solidFill>
              <a:srgbClr val="DCE6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9B2074-18F5-48A4-A84F-313CCF89A9A9}"/>
              </a:ext>
            </a:extLst>
          </p:cNvPr>
          <p:cNvSpPr>
            <a:spLocks noGrp="1"/>
          </p:cNvSpPr>
          <p:nvPr/>
        </p:nvSpPr>
        <p:spPr>
          <a:xfrm>
            <a:off x="6819900" y="19240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Gemini 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DDBB2D-B007-46CB-BEE2-6F0FAE413F45}"/>
              </a:ext>
            </a:extLst>
          </p:cNvPr>
          <p:cNvSpPr>
            <a:spLocks noGrp="1"/>
          </p:cNvSpPr>
          <p:nvPr/>
        </p:nvSpPr>
        <p:spPr>
          <a:xfrm>
            <a:off x="6819900" y="2457450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Interprets natural language and returns organized transaction details.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6D70AA4-C730-4E29-A7DE-D325521B0348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4762500" cy="1476375"/>
          </a:xfrm>
          <a:prstGeom prst="roundRect">
            <a:avLst>
              <a:gd name="adj" fmla="val 7742"/>
            </a:avLst>
          </a:prstGeom>
          <a:solidFill>
            <a:srgbClr val="F5F7FA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26CC2E-87E1-4F28-A064-72F336C957E0}"/>
              </a:ext>
            </a:extLst>
          </p:cNvPr>
          <p:cNvSpPr>
            <a:spLocks noGrp="1"/>
          </p:cNvSpPr>
          <p:nvPr/>
        </p:nvSpPr>
        <p:spPr>
          <a:xfrm>
            <a:off x="6819900" y="3943350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Development and project tracking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8F7924-16EF-429A-87F8-70F0B8439708}"/>
              </a:ext>
            </a:extLst>
          </p:cNvPr>
          <p:cNvSpPr>
            <a:spLocks noGrp="1"/>
          </p:cNvSpPr>
          <p:nvPr/>
        </p:nvSpPr>
        <p:spPr>
          <a:xfrm>
            <a:off x="6819900" y="440055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VS Code</a:t>
            </a:r>
          </a:p>
          <a:p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GitHub Project Manager</a:t>
            </a:r>
          </a:p>
          <a:p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endParaRPr sz="1275" b="0">
              <a:solidFill>
                <a:srgbClr val="66708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49E578-3CA9-4626-B38F-5652778CB0A5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</p:spTree>
    <p:extLst>
      <p:ext uri="{BB962C8B-B14F-4D97-AF65-F5344CB8AC3E}">
        <p14:creationId xmlns:p14="http://schemas.microsoft.com/office/powerpoint/2010/main" val="185067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A1D6EE4-00D9-4DFC-A9C6-885D83D7942C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Team roles, tools, and next milestone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C3848E-A234-4DE8-97FD-BCFA0F0A390C}"/>
              </a:ext>
            </a:extLst>
          </p:cNvPr>
          <p:cNvSpPr>
            <a:spLocks noGrp="1"/>
          </p:cNvSpPr>
          <p:nvPr/>
        </p:nvSpPr>
        <p:spPr>
          <a:xfrm>
            <a:off x="10953750" y="495300"/>
            <a:ext cx="619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lang="en-US" sz="1350" b="1" dirty="0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1350" b="1" dirty="0">
              <a:solidFill>
                <a:srgbClr val="E5AA2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98715BC-6671-447B-9C53-6F035EE9F63C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11001375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49E578-3CA9-4626-B38F-5652778CB0A5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  <p:sp>
        <p:nvSpPr>
          <p:cNvPr id="30" name="Presentation instructions"/>
          <p:cNvSpPr/>
          <p:nvPr/>
        </p:nvSpPr>
        <p:spPr>
          <a:xfrm>
            <a:off x="640080" y="1219200"/>
            <a:ext cx="109118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sz="1350">
                <a:solidFill>
                  <a:srgbClr val="667085"/>
                </a:solidFill>
                <a:latin typeface="Helvetica Neue"/>
              </a:rPr>
              <a:t>Each member explains their role, tools, and immediate assignments.</a:t>
            </a:r>
          </a:p>
        </p:txBody>
      </p:sp>
      <p:sp>
        <p:nvSpPr>
          <p:cNvPr id="31" name="Giancarlo Acevedo Francisco role and tools"/>
          <p:cNvSpPr/>
          <p:nvPr/>
        </p:nvSpPr>
        <p:spPr>
          <a:xfrm>
            <a:off x="640080" y="16459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9050">
            <a:solidFill>
              <a:srgbClr val="2F5597"/>
            </a:solidFill>
          </a:ln>
        </p:spPr>
        <p:txBody>
          <a:bodyPr wrap="square" lIns="190500" tIns="114300" rIns="190500" bIns="95250" anchor="t">
            <a:normAutofit/>
          </a:bodyPr>
          <a:lstStyle/>
          <a:p>
            <a:r>
              <a:rPr sz="1800" b="1" dirty="0">
                <a:solidFill>
                  <a:srgbClr val="17365D"/>
                </a:solidFill>
                <a:latin typeface="Helvetica Neue"/>
              </a:rPr>
              <a:t>Giancarlo Acevedo Francisco</a:t>
            </a:r>
          </a:p>
          <a:p>
            <a:r>
              <a:rPr sz="1200" b="1" dirty="0">
                <a:solidFill>
                  <a:srgbClr val="2F5597"/>
                </a:solidFill>
                <a:latin typeface="Helvetica Neue"/>
              </a:rPr>
              <a:t>Software development</a:t>
            </a:r>
          </a:p>
          <a:p>
            <a:pPr>
              <a:spcBef>
                <a:spcPts val="4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Tools: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React, Vite, Node.js, Express, Gemini API, VS Code</a:t>
            </a:r>
            <a:r>
              <a:rPr lang="en-US" sz="1125" dirty="0">
                <a:solidFill>
                  <a:srgbClr val="344054"/>
                </a:solidFill>
                <a:latin typeface="Helvetica Neue"/>
              </a:rPr>
              <a:t>, GitHub</a:t>
            </a:r>
            <a:endParaRPr sz="1125" dirty="0">
              <a:solidFill>
                <a:srgbClr val="344054"/>
              </a:solidFill>
              <a:latin typeface="Helvetica Neue"/>
            </a:endParaRPr>
          </a:p>
          <a:p>
            <a:pPr>
              <a:spcBef>
                <a:spcPts val="3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Next milestone: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Build the frontend structure, API routes, and database connection.</a:t>
            </a:r>
          </a:p>
        </p:txBody>
      </p:sp>
      <p:sp>
        <p:nvSpPr>
          <p:cNvPr id="32" name="Jensen Ramnarine role and tools"/>
          <p:cNvSpPr/>
          <p:nvPr/>
        </p:nvSpPr>
        <p:spPr>
          <a:xfrm>
            <a:off x="6199632" y="16459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 w="19050">
            <a:solidFill>
              <a:srgbClr val="35A97C"/>
            </a:solidFill>
          </a:ln>
        </p:spPr>
        <p:txBody>
          <a:bodyPr wrap="square" lIns="190500" tIns="114300" rIns="190500" bIns="95250" anchor="t">
            <a:normAutofit/>
          </a:bodyPr>
          <a:lstStyle/>
          <a:p>
            <a:r>
              <a:rPr sz="1800" b="1" dirty="0">
                <a:solidFill>
                  <a:srgbClr val="17365D"/>
                </a:solidFill>
                <a:latin typeface="Helvetica Neue"/>
              </a:rPr>
              <a:t>Jensen Ramnarine</a:t>
            </a:r>
          </a:p>
          <a:p>
            <a:r>
              <a:rPr sz="1200" b="1" dirty="0">
                <a:solidFill>
                  <a:srgbClr val="35A97C"/>
                </a:solidFill>
                <a:latin typeface="Helvetica Neue"/>
              </a:rPr>
              <a:t>Database and cloud database</a:t>
            </a:r>
          </a:p>
          <a:p>
            <a:pPr>
              <a:spcBef>
                <a:spcPts val="4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Tools: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MySQL, cloud database</a:t>
            </a:r>
            <a:r>
              <a:rPr lang="en-US" sz="1125" dirty="0">
                <a:solidFill>
                  <a:srgbClr val="344054"/>
                </a:solidFill>
                <a:latin typeface="Helvetica Neue"/>
              </a:rPr>
              <a:t> platform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, GitHub, </a:t>
            </a:r>
            <a:r>
              <a:rPr lang="en-US" sz="1125" dirty="0">
                <a:solidFill>
                  <a:srgbClr val="344054"/>
                </a:solidFill>
                <a:latin typeface="Helvetica Neue"/>
              </a:rPr>
              <a:t>Excel</a:t>
            </a:r>
            <a:endParaRPr sz="1125" dirty="0">
              <a:solidFill>
                <a:srgbClr val="344054"/>
              </a:solidFill>
              <a:latin typeface="Helvetica Neue"/>
            </a:endParaRPr>
          </a:p>
          <a:p>
            <a:pPr>
              <a:spcBef>
                <a:spcPts val="3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Next milestone: </a:t>
            </a:r>
            <a:r>
              <a:rPr lang="en-US" sz="1125" dirty="0">
                <a:solidFill>
                  <a:srgbClr val="344054"/>
                </a:solidFill>
                <a:latin typeface="Helvetica Neue"/>
              </a:rPr>
              <a:t>Verify the hosted database, schema, seed data, and relationships, and maintain the Gantt chart.</a:t>
            </a:r>
            <a:endParaRPr sz="1125" dirty="0">
              <a:solidFill>
                <a:srgbClr val="344054"/>
              </a:solidFill>
              <a:latin typeface="Helvetica Neue"/>
            </a:endParaRPr>
          </a:p>
        </p:txBody>
      </p:sp>
      <p:sp>
        <p:nvSpPr>
          <p:cNvPr id="33" name="Steeve Roger role and tools"/>
          <p:cNvSpPr/>
          <p:nvPr/>
        </p:nvSpPr>
        <p:spPr>
          <a:xfrm>
            <a:off x="590550" y="4191001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CF6E8"/>
          </a:solidFill>
          <a:ln w="19050">
            <a:solidFill>
              <a:srgbClr val="E5AA2A"/>
            </a:solidFill>
          </a:ln>
        </p:spPr>
        <p:txBody>
          <a:bodyPr wrap="square" lIns="190500" tIns="114300" rIns="190500" bIns="95250" anchor="t">
            <a:normAutofit/>
          </a:bodyPr>
          <a:lstStyle/>
          <a:p>
            <a:r>
              <a:rPr sz="1800" b="1" dirty="0">
                <a:solidFill>
                  <a:srgbClr val="17365D"/>
                </a:solidFill>
                <a:latin typeface="Helvetica Neue"/>
              </a:rPr>
              <a:t>Steeve Roger</a:t>
            </a:r>
          </a:p>
          <a:p>
            <a:r>
              <a:rPr sz="1200" b="1" dirty="0">
                <a:solidFill>
                  <a:srgbClr val="E5AA2A"/>
                </a:solidFill>
                <a:latin typeface="Helvetica Neue"/>
              </a:rPr>
              <a:t>Web design and hosting support</a:t>
            </a:r>
          </a:p>
          <a:p>
            <a:pPr>
              <a:spcBef>
                <a:spcPts val="4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Tools: </a:t>
            </a:r>
            <a:r>
              <a:rPr lang="en-US" sz="1125" dirty="0">
                <a:solidFill>
                  <a:srgbClr val="344054"/>
                </a:solidFill>
                <a:latin typeface="Helvetica Neue"/>
              </a:rPr>
              <a:t>Wireframing software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,</a:t>
            </a:r>
            <a:r>
              <a:rPr lang="en-US" sz="1125" dirty="0">
                <a:solidFill>
                  <a:srgbClr val="344054"/>
                </a:solidFill>
                <a:latin typeface="Helvetica Neue"/>
              </a:rPr>
              <a:t>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GitHub, AWS or Azure</a:t>
            </a:r>
          </a:p>
          <a:p>
            <a:pPr>
              <a:spcBef>
                <a:spcPts val="3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Next milestone: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Complete the dashboard wireframe and support responsive design.</a:t>
            </a:r>
          </a:p>
        </p:txBody>
      </p:sp>
      <p:sp>
        <p:nvSpPr>
          <p:cNvPr id="34" name="Marcos Gutierrez role and tools"/>
          <p:cNvSpPr/>
          <p:nvPr/>
        </p:nvSpPr>
        <p:spPr>
          <a:xfrm>
            <a:off x="6199632" y="4191001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2EFF8"/>
          </a:solidFill>
          <a:ln w="19050">
            <a:solidFill>
              <a:srgbClr val="75619A"/>
            </a:solidFill>
          </a:ln>
        </p:spPr>
        <p:txBody>
          <a:bodyPr wrap="square" lIns="190500" tIns="114300" rIns="190500" bIns="95250" anchor="t">
            <a:normAutofit/>
          </a:bodyPr>
          <a:lstStyle/>
          <a:p>
            <a:r>
              <a:rPr sz="1800" b="1" dirty="0">
                <a:solidFill>
                  <a:srgbClr val="17365D"/>
                </a:solidFill>
                <a:latin typeface="Helvetica Neue"/>
              </a:rPr>
              <a:t>Marcos Gutierrez</a:t>
            </a:r>
          </a:p>
          <a:p>
            <a:r>
              <a:rPr sz="1200" b="1" dirty="0">
                <a:solidFill>
                  <a:srgbClr val="75619A"/>
                </a:solidFill>
                <a:latin typeface="Helvetica Neue"/>
              </a:rPr>
              <a:t>QA, documentation, and presentations</a:t>
            </a:r>
          </a:p>
          <a:p>
            <a:pPr>
              <a:spcBef>
                <a:spcPts val="4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Tools: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GitHub, Word, PowerPoint, test documentation</a:t>
            </a:r>
          </a:p>
          <a:p>
            <a:pPr>
              <a:spcBef>
                <a:spcPts val="350"/>
              </a:spcBef>
            </a:pPr>
            <a:r>
              <a:rPr sz="1125" b="1" dirty="0">
                <a:solidFill>
                  <a:srgbClr val="344054"/>
                </a:solidFill>
                <a:latin typeface="Helvetica Neue"/>
              </a:rPr>
              <a:t>Next milestone: </a:t>
            </a:r>
            <a:r>
              <a:rPr sz="1125" dirty="0">
                <a:solidFill>
                  <a:srgbClr val="344054"/>
                </a:solidFill>
                <a:latin typeface="Helvetica Neue"/>
              </a:rPr>
              <a:t>Prepare test plans, document progress, and coordinate Presentation 2.</a:t>
            </a:r>
          </a:p>
        </p:txBody>
      </p:sp>
    </p:spTree>
    <p:extLst>
      <p:ext uri="{BB962C8B-B14F-4D97-AF65-F5344CB8AC3E}">
        <p14:creationId xmlns:p14="http://schemas.microsoft.com/office/powerpoint/2010/main" val="39201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CC3EBFA-2302-4BDE-9C52-0FCB056992B9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Gantt schedule and current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1A983-E5FD-4730-9C4A-1B5967452A9E}"/>
              </a:ext>
            </a:extLst>
          </p:cNvPr>
          <p:cNvSpPr>
            <a:spLocks noGrp="1"/>
          </p:cNvSpPr>
          <p:nvPr/>
        </p:nvSpPr>
        <p:spPr>
          <a:xfrm>
            <a:off x="10953750" y="495300"/>
            <a:ext cx="619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lang="en-US" sz="1350" b="1" dirty="0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350" b="1" dirty="0">
              <a:solidFill>
                <a:srgbClr val="E5AA2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DAB6928-170C-4E00-BCBA-44D8A9FB1892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11001375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4" name="Updated Gantt schedule"/>
          <p:cNvPicPr>
            <a:picLocks noChangeAspect="1"/>
          </p:cNvPicPr>
          <p:nvPr/>
        </p:nvPicPr>
        <p:blipFill>
          <a:blip r:embed="rId3"/>
          <a:srcRect l="3000" t="8000" r="3000" b="7000"/>
          <a:stretch>
            <a:fillRect/>
          </a:stretch>
        </p:blipFill>
        <p:spPr>
          <a:xfrm>
            <a:off x="3352800" y="1257300"/>
            <a:ext cx="5486400" cy="5105400"/>
          </a:xfrm>
          <a:prstGeom prst="roundRect">
            <a:avLst>
              <a:gd name="adj" fmla="val 1200"/>
            </a:avLst>
          </a:prstGeom>
          <a:ln w="9525">
            <a:solidFill>
              <a:srgbClr val="D0D5DD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92F14B-8CF2-402E-808E-6EDA021A8F9B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</p:spTree>
    <p:extLst>
      <p:ext uri="{BB962C8B-B14F-4D97-AF65-F5344CB8AC3E}">
        <p14:creationId xmlns:p14="http://schemas.microsoft.com/office/powerpoint/2010/main" val="36214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FF5BA0-02AC-4683-921D-53CCED05B927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GitHub repository and documentation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B3D08D-F1DA-449C-8D96-6430272ED915}"/>
              </a:ext>
            </a:extLst>
          </p:cNvPr>
          <p:cNvSpPr>
            <a:spLocks noGrp="1"/>
          </p:cNvSpPr>
          <p:nvPr/>
        </p:nvSpPr>
        <p:spPr>
          <a:xfrm>
            <a:off x="10953750" y="495300"/>
            <a:ext cx="619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5AA2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B93C518-9346-4956-BE46-80E450087189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11001375" cy="0"/>
          </a:xfrm>
          <a:prstGeom prst="line">
            <a:avLst/>
          </a:prstGeom>
          <a:noFill/>
          <a:ln w="9525">
            <a:solidFill>
              <a:srgbClr val="D0D5D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8125DF-ADE2-45C5-9988-DDD08923FC98}"/>
              </a:ext>
            </a:extLst>
          </p:cNvPr>
          <p:cNvSpPr>
            <a:spLocks noGrp="1"/>
          </p:cNvSpPr>
          <p:nvPr/>
        </p:nvSpPr>
        <p:spPr>
          <a:xfrm>
            <a:off x="1862137" y="5911553"/>
            <a:ext cx="8458200" cy="466725"/>
          </a:xfrm>
          <a:prstGeom prst="roundRect">
            <a:avLst>
              <a:gd name="adj" fmla="val 14286"/>
            </a:avLst>
          </a:prstGeom>
          <a:solidFill>
            <a:srgbClr val="DCE6F1"/>
          </a:solidFill>
          <a:ln w="9525">
            <a:solidFill>
              <a:srgbClr val="DCE6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485CA-0A49-4E7A-A9C5-9B857411175B}"/>
              </a:ext>
            </a:extLst>
          </p:cNvPr>
          <p:cNvSpPr>
            <a:spLocks noGrp="1"/>
          </p:cNvSpPr>
          <p:nvPr/>
        </p:nvSpPr>
        <p:spPr>
          <a:xfrm>
            <a:off x="2062162" y="6040140"/>
            <a:ext cx="805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832"/>
          </a:bodyPr>
          <a:lstStyle/>
          <a:p>
            <a:pPr algn="ctr">
              <a:defRPr sz="1275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dirty="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Live demonstration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8E0C29-F555-485A-B858-D1E1FA8C7415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F5824-B380-11ED-171E-B0D6432AE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529" y="1203623"/>
            <a:ext cx="7244687" cy="457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1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BD6ADCE-25B8-449A-B733-C6198EA36FFA}"/>
              </a:ext>
            </a:extLst>
          </p:cNvPr>
          <p:cNvSpPr>
            <a:spLocks noGrp="1"/>
          </p:cNvSpPr>
          <p:nvPr/>
        </p:nvSpPr>
        <p:spPr>
          <a:xfrm>
            <a:off x="717591" y="1348431"/>
            <a:ext cx="11001375" cy="0"/>
          </a:xfrm>
          <a:prstGeom prst="line">
            <a:avLst/>
          </a:prstGeom>
          <a:noFill/>
          <a:ln w="28575">
            <a:solidFill>
              <a:srgbClr val="E5A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EB1492-F514-48FA-9CA9-AF4951AF725B}"/>
              </a:ext>
            </a:extLst>
          </p:cNvPr>
          <p:cNvSpPr>
            <a:spLocks noGrp="1"/>
          </p:cNvSpPr>
          <p:nvPr/>
        </p:nvSpPr>
        <p:spPr>
          <a:xfrm>
            <a:off x="3086009" y="2774490"/>
            <a:ext cx="6019973" cy="136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F7483D-F9CB-4CDC-97A3-AB4AD8531F19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CE6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CE6F1"/>
                </a:solidFill>
                <a:latin typeface="Helvetica Neue"/>
                <a:ea typeface="Helvetica Neue"/>
                <a:cs typeface="Helvetica Neue"/>
              </a:rPr>
              <a:t>CIS 2910C | CENTAVO AI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6B3C69C-18AB-EB6B-476A-FE56340C37AD}"/>
              </a:ext>
            </a:extLst>
          </p:cNvPr>
          <p:cNvSpPr>
            <a:spLocks noGrp="1"/>
          </p:cNvSpPr>
          <p:nvPr/>
        </p:nvSpPr>
        <p:spPr>
          <a:xfrm>
            <a:off x="717591" y="5516777"/>
            <a:ext cx="11001375" cy="0"/>
          </a:xfrm>
          <a:prstGeom prst="line">
            <a:avLst/>
          </a:prstGeom>
          <a:noFill/>
          <a:ln w="28575">
            <a:solidFill>
              <a:srgbClr val="E5A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5D4F4-ABC3-4816-0406-284E4B5435B4}"/>
              </a:ext>
            </a:extLst>
          </p:cNvPr>
          <p:cNvSpPr>
            <a:spLocks noGrp="1"/>
          </p:cNvSpPr>
          <p:nvPr/>
        </p:nvSpPr>
        <p:spPr>
          <a:xfrm>
            <a:off x="3086010" y="2752524"/>
            <a:ext cx="6019973" cy="136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48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Summary</a:t>
            </a:r>
            <a:endParaRPr sz="480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4746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" grpId="0"/>
    </p:bldLst>
  </p:timing>
</p:sld>
</file>

<file path=ppt/theme/theme1.xml><?xml version="1.0" encoding="utf-8"?>
<a:theme xmlns:a="http://schemas.openxmlformats.org/drawingml/2006/main" name="ChatGPT">
  <a:themeElements>
    <a:clrScheme name="Centavo Simple">
      <a:dk1>
        <a:srgbClr val="000000"/>
      </a:dk1>
      <a:lt1>
        <a:srgbClr val="FFFFFF"/>
      </a:lt1>
      <a:dk2>
        <a:srgbClr val="17365D"/>
      </a:dk2>
      <a:lt2>
        <a:srgbClr val="DCE6F1"/>
      </a:lt2>
      <a:accent1>
        <a:srgbClr val="2F5597"/>
      </a:accent1>
      <a:accent2>
        <a:srgbClr val="E5AA2A"/>
      </a:accent2>
      <a:accent3>
        <a:srgbClr val="2F9E75"/>
      </a:accent3>
      <a:accent4>
        <a:srgbClr val="C95555"/>
      </a:accent4>
      <a:accent5>
        <a:srgbClr val="DCE6F1"/>
      </a:accent5>
      <a:accent6>
        <a:srgbClr val="667085"/>
      </a:accent6>
      <a:hlink>
        <a:srgbClr val="2F5597"/>
      </a:hlink>
      <a:folHlink>
        <a:srgbClr val="1736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entavo Simp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entavo Simple">
      <a:dk1>
        <a:srgbClr val="000000"/>
      </a:dk1>
      <a:lt1>
        <a:srgbClr val="FFFFFF"/>
      </a:lt1>
      <a:dk2>
        <a:srgbClr val="17365D"/>
      </a:dk2>
      <a:lt2>
        <a:srgbClr val="DCE6F1"/>
      </a:lt2>
      <a:accent1>
        <a:srgbClr val="2F5597"/>
      </a:accent1>
      <a:accent2>
        <a:srgbClr val="E5AA2A"/>
      </a:accent2>
      <a:accent3>
        <a:srgbClr val="2F9E75"/>
      </a:accent3>
      <a:accent4>
        <a:srgbClr val="C95555"/>
      </a:accent4>
      <a:accent5>
        <a:srgbClr val="DCE6F1"/>
      </a:accent5>
      <a:accent6>
        <a:srgbClr val="667085"/>
      </a:accent6>
      <a:hlink>
        <a:srgbClr val="2F5597"/>
      </a:hlink>
      <a:folHlink>
        <a:srgbClr val="1736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entavo Simp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652</Words>
  <Application>Microsoft Macintosh PowerPoint</Application>
  <DocSecurity>0</DocSecurity>
  <PresentationFormat>Widescreen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Marcos Gutierrez</cp:lastModifiedBy>
  <cp:revision>10</cp:revision>
  <dcterms:created xsi:type="dcterms:W3CDTF">2026-09-13T00:11:59Z</dcterms:created>
  <dcterms:modified xsi:type="dcterms:W3CDTF">2026-09-16T02:24:36Z</dcterms:modified>
</cp:coreProperties>
</file>